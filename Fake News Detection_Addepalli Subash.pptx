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5"/>
  </p:notesMasterIdLst>
  <p:sldIdLst>
    <p:sldId id="256" r:id="rId3"/>
    <p:sldId id="571" r:id="rId4"/>
    <p:sldId id="572" r:id="rId5"/>
    <p:sldId id="573" r:id="rId6"/>
    <p:sldId id="574" r:id="rId7"/>
    <p:sldId id="575" r:id="rId8"/>
    <p:sldId id="576" r:id="rId9"/>
    <p:sldId id="580" r:id="rId10"/>
    <p:sldId id="577" r:id="rId11"/>
    <p:sldId id="579" r:id="rId12"/>
    <p:sldId id="578" r:id="rId13"/>
    <p:sldId id="536"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C8D344-CD89-4E9F-AAA0-A78E94C21421}" v="2" dt="2026-02-21T13:18:45.9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varScale="1">
        <p:scale>
          <a:sx n="88" d="100"/>
          <a:sy n="88" d="100"/>
        </p:scale>
        <p:origin x="228" y="57"/>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a" userId="c228e0e7c514d0c2" providerId="LiveId" clId="{A4909939-5C00-4122-8D50-5E17C8A3DC79}"/>
    <pc:docChg chg="undo custSel modSld">
      <pc:chgData name="s a" userId="c228e0e7c514d0c2" providerId="LiveId" clId="{A4909939-5C00-4122-8D50-5E17C8A3DC79}" dt="2026-02-21T13:27:51.214" v="79" actId="20577"/>
      <pc:docMkLst>
        <pc:docMk/>
      </pc:docMkLst>
      <pc:sldChg chg="addSp delSp modSp mod">
        <pc:chgData name="s a" userId="c228e0e7c514d0c2" providerId="LiveId" clId="{A4909939-5C00-4122-8D50-5E17C8A3DC79}" dt="2026-02-21T13:27:51.214" v="79" actId="20577"/>
        <pc:sldMkLst>
          <pc:docMk/>
          <pc:sldMk cId="2310333463" sldId="256"/>
        </pc:sldMkLst>
        <pc:spChg chg="mod">
          <ac:chgData name="s a" userId="c228e0e7c514d0c2" providerId="LiveId" clId="{A4909939-5C00-4122-8D50-5E17C8A3DC79}" dt="2026-02-21T13:27:51.214" v="79" actId="20577"/>
          <ac:spMkLst>
            <pc:docMk/>
            <pc:sldMk cId="2310333463" sldId="256"/>
            <ac:spMk id="3" creationId="{0F837936-4230-3A98-A2A1-6E77E027B36D}"/>
          </ac:spMkLst>
        </pc:spChg>
        <pc:spChg chg="mod">
          <ac:chgData name="s a" userId="c228e0e7c514d0c2" providerId="LiveId" clId="{A4909939-5C00-4122-8D50-5E17C8A3DC79}" dt="2026-02-21T13:16:49.571" v="30" actId="20577"/>
          <ac:spMkLst>
            <pc:docMk/>
            <pc:sldMk cId="2310333463" sldId="256"/>
            <ac:spMk id="5" creationId="{3A663A0C-3931-F8E6-391C-2FF1FDBB09CD}"/>
          </ac:spMkLst>
        </pc:spChg>
        <pc:spChg chg="add del">
          <ac:chgData name="s a" userId="c228e0e7c514d0c2" providerId="LiveId" clId="{A4909939-5C00-4122-8D50-5E17C8A3DC79}" dt="2026-02-21T13:26:05.866" v="56" actId="22"/>
          <ac:spMkLst>
            <pc:docMk/>
            <pc:sldMk cId="2310333463" sldId="256"/>
            <ac:spMk id="10" creationId="{4950E5F9-F018-D982-E067-3AC80C4945AF}"/>
          </ac:spMkLst>
        </pc:spChg>
        <pc:spChg chg="mod">
          <ac:chgData name="s a" userId="c228e0e7c514d0c2" providerId="LiveId" clId="{A4909939-5C00-4122-8D50-5E17C8A3DC79}" dt="2026-02-21T13:25:49.743" v="53" actId="1076"/>
          <ac:spMkLst>
            <pc:docMk/>
            <pc:sldMk cId="2310333463" sldId="256"/>
            <ac:spMk id="18" creationId="{97DD7732-9B23-40F7-1FF7-FD50BDC193D8}"/>
          </ac:spMkLst>
        </pc:spChg>
        <pc:picChg chg="add del mod">
          <ac:chgData name="s a" userId="c228e0e7c514d0c2" providerId="LiveId" clId="{A4909939-5C00-4122-8D50-5E17C8A3DC79}" dt="2026-02-21T13:25:42.499" v="51" actId="931"/>
          <ac:picMkLst>
            <pc:docMk/>
            <pc:sldMk cId="2310333463" sldId="256"/>
            <ac:picMk id="6" creationId="{96C47E7F-7413-57B2-FD60-A909E563BAE4}"/>
          </ac:picMkLst>
        </pc:picChg>
        <pc:picChg chg="add del">
          <ac:chgData name="s a" userId="c228e0e7c514d0c2" providerId="LiveId" clId="{A4909939-5C00-4122-8D50-5E17C8A3DC79}" dt="2026-02-21T13:26:02.685" v="54" actId="478"/>
          <ac:picMkLst>
            <pc:docMk/>
            <pc:sldMk cId="2310333463" sldId="256"/>
            <ac:picMk id="9" creationId="{B4288F3F-AD4C-81EA-1336-D2C00EFCC479}"/>
          </ac:picMkLst>
        </pc:picChg>
        <pc:picChg chg="add mod">
          <ac:chgData name="s a" userId="c228e0e7c514d0c2" providerId="LiveId" clId="{A4909939-5C00-4122-8D50-5E17C8A3DC79}" dt="2026-02-21T13:27:04.321" v="70" actId="14100"/>
          <ac:picMkLst>
            <pc:docMk/>
            <pc:sldMk cId="2310333463" sldId="256"/>
            <ac:picMk id="12" creationId="{2460AFD1-0313-79FD-510E-BBD946DE0F04}"/>
          </ac:picMkLst>
        </pc:picChg>
      </pc:sldChg>
      <pc:sldChg chg="modSp">
        <pc:chgData name="s a" userId="c228e0e7c514d0c2" providerId="LiveId" clId="{A4909939-5C00-4122-8D50-5E17C8A3DC79}" dt="2026-02-21T13:18:45.919" v="31"/>
        <pc:sldMkLst>
          <pc:docMk/>
          <pc:sldMk cId="3372914246" sldId="572"/>
        </pc:sldMkLst>
        <pc:spChg chg="mod">
          <ac:chgData name="s a" userId="c228e0e7c514d0c2" providerId="LiveId" clId="{A4909939-5C00-4122-8D50-5E17C8A3DC79}" dt="2026-02-21T13:18:45.919" v="31"/>
          <ac:spMkLst>
            <pc:docMk/>
            <pc:sldMk cId="3372914246" sldId="572"/>
            <ac:spMk id="3" creationId="{28E8C97F-5AC9-F1CA-3CCC-090D5B1398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21-02-2026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12</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21-02-2026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2/21/2026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21/02/2026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www.python.org/" TargetMode="External"/><Relationship Id="rId2" Type="http://schemas.openxmlformats.org/officeDocument/2006/relationships/hyperlink" Target="https://scikit-learn.org/" TargetMode="External"/><Relationship Id="rId1" Type="http://schemas.openxmlformats.org/officeDocument/2006/relationships/slideLayout" Target="../slideLayouts/slideLayout3.xml"/><Relationship Id="rId4" Type="http://schemas.openxmlformats.org/officeDocument/2006/relationships/hyperlink" Target="https://github.com/a-subash/AICTE-Fake-News-Detection-Project"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206342" y="934"/>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p>
          <a:p>
            <a:pPr algn="l"/>
            <a:endParaRPr lang="en-US" sz="5100" dirty="0">
              <a:latin typeface="Aptos"/>
            </a:endParaRPr>
          </a:p>
          <a:p>
            <a:pPr algn="l"/>
            <a:r>
              <a:rPr lang="en-US" sz="3500" b="1" dirty="0"/>
              <a:t>Fake News Detection</a:t>
            </a:r>
            <a:endParaRPr lang="en-US" sz="3500" dirty="0">
              <a:latin typeface="Aptos"/>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7304" y="34731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a:t>
            </a:r>
            <a:r>
              <a:rPr lang="en-IN" sz="1600" b="1" dirty="0"/>
              <a:t>ADDEPALLI SUBASH</a:t>
            </a:r>
            <a:endParaRPr lang="en-US" sz="1600" b="1" cap="all" dirty="0"/>
          </a:p>
          <a:p>
            <a:pPr algn="l">
              <a:spcAft>
                <a:spcPts val="600"/>
              </a:spcAft>
            </a:pPr>
            <a:r>
              <a:rPr lang="en-US" sz="1600" b="1" cap="all" dirty="0"/>
              <a:t>College Name: </a:t>
            </a:r>
            <a:r>
              <a:rPr lang="en-IN" sz="1600" b="1" dirty="0"/>
              <a:t>KLH UNIVERSITY BOWRAMPET HYDERABAD</a:t>
            </a:r>
            <a:endParaRPr lang="en-US" sz="1600" b="1" dirty="0"/>
          </a:p>
          <a:p>
            <a:pPr algn="l">
              <a:spcAft>
                <a:spcPts val="600"/>
              </a:spcAft>
            </a:pPr>
            <a:r>
              <a:rPr lang="en-US" sz="1600" b="1" cap="all" dirty="0"/>
              <a:t>Department: CSE</a:t>
            </a:r>
          </a:p>
          <a:p>
            <a:pPr algn="l">
              <a:spcAft>
                <a:spcPts val="600"/>
              </a:spcAft>
            </a:pPr>
            <a:r>
              <a:rPr lang="en-US" sz="1600" b="1" cap="all" dirty="0"/>
              <a:t>Email ID: </a:t>
            </a:r>
            <a:r>
              <a:rPr lang="en-US" sz="1600" b="1" dirty="0"/>
              <a:t>addepallisubash@gmail.com</a:t>
            </a:r>
            <a:endParaRPr lang="en-US" sz="1600" b="1" cap="all" dirty="0"/>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2" name="Picture 11">
            <a:extLst>
              <a:ext uri="{FF2B5EF4-FFF2-40B4-BE49-F238E27FC236}">
                <a16:creationId xmlns:a16="http://schemas.microsoft.com/office/drawing/2014/main" id="{2460AFD1-0313-79FD-510E-BBD946DE0F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30141" y="269324"/>
            <a:ext cx="6073236" cy="6224470"/>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4000" b="1" cap="all" dirty="0">
                <a:cs typeface="Arial"/>
              </a:rPr>
              <a:t>OUTLINE:</a:t>
            </a:r>
            <a:endParaRPr lang="en-US" sz="40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000" b="1" dirty="0">
                <a:latin typeface="Arial"/>
                <a:cs typeface="Arial"/>
              </a:rPr>
              <a:t>Problem Statement </a:t>
            </a:r>
          </a:p>
          <a:p>
            <a:pPr marL="305435" indent="-305435">
              <a:spcBef>
                <a:spcPct val="20000"/>
              </a:spcBef>
              <a:spcAft>
                <a:spcPts val="600"/>
              </a:spcAft>
            </a:pPr>
            <a:r>
              <a:rPr lang="en-US" sz="2000" b="1" dirty="0">
                <a:latin typeface="Arial"/>
                <a:cs typeface="Arial"/>
              </a:rPr>
              <a:t>Proposed System/Solution</a:t>
            </a:r>
            <a:endParaRPr lang="en-US" sz="2000" dirty="0">
              <a:latin typeface="Arial"/>
              <a:cs typeface="Arial"/>
            </a:endParaRPr>
          </a:p>
          <a:p>
            <a:pPr marL="305435" indent="-305435">
              <a:spcBef>
                <a:spcPct val="20000"/>
              </a:spcBef>
              <a:spcAft>
                <a:spcPts val="600"/>
              </a:spcAft>
            </a:pPr>
            <a:r>
              <a:rPr lang="en-US" sz="2000" b="1" dirty="0">
                <a:latin typeface="Arial"/>
                <a:cs typeface="Arial"/>
              </a:rPr>
              <a:t>System Development Approach </a:t>
            </a:r>
            <a:r>
              <a:rPr lang="en-US" sz="2000" dirty="0">
                <a:latin typeface="Arial"/>
                <a:cs typeface="Arial"/>
              </a:rPr>
              <a:t>(Technology Used) </a:t>
            </a:r>
          </a:p>
          <a:p>
            <a:pPr marL="305435" indent="-305435">
              <a:spcBef>
                <a:spcPct val="20000"/>
              </a:spcBef>
              <a:spcAft>
                <a:spcPts val="600"/>
              </a:spcAft>
            </a:pPr>
            <a:r>
              <a:rPr lang="en-US" sz="2000" b="1" dirty="0">
                <a:latin typeface="Arial"/>
                <a:cs typeface="Arial"/>
              </a:rPr>
              <a:t>Algorithm &amp; Deployment  </a:t>
            </a:r>
            <a:endParaRPr lang="en-US" sz="2000" dirty="0">
              <a:latin typeface="Arial"/>
              <a:cs typeface="Arial"/>
            </a:endParaRPr>
          </a:p>
          <a:p>
            <a:pPr marL="305435" indent="-305435">
              <a:spcBef>
                <a:spcPct val="20000"/>
              </a:spcBef>
              <a:spcAft>
                <a:spcPts val="600"/>
              </a:spcAft>
            </a:pPr>
            <a:r>
              <a:rPr lang="en-US" sz="2000" b="1" dirty="0">
                <a:latin typeface="Arial"/>
                <a:cs typeface="Arial"/>
              </a:rPr>
              <a:t>Result (Output Image)</a:t>
            </a:r>
            <a:endParaRPr lang="en-US" sz="2000" dirty="0">
              <a:latin typeface="Arial"/>
              <a:cs typeface="Arial"/>
            </a:endParaRPr>
          </a:p>
          <a:p>
            <a:pPr marL="305435" indent="-305435">
              <a:spcBef>
                <a:spcPct val="20000"/>
              </a:spcBef>
              <a:spcAft>
                <a:spcPts val="600"/>
              </a:spcAft>
            </a:pPr>
            <a:r>
              <a:rPr lang="en-US" sz="2000" b="1" dirty="0">
                <a:latin typeface="Arial"/>
                <a:cs typeface="Arial"/>
              </a:rPr>
              <a:t>Conclusion</a:t>
            </a:r>
            <a:endParaRPr lang="en-US" sz="2000" dirty="0">
              <a:latin typeface="Arial"/>
              <a:cs typeface="Arial"/>
            </a:endParaRPr>
          </a:p>
          <a:p>
            <a:pPr marL="305435" indent="-305435">
              <a:spcBef>
                <a:spcPct val="20000"/>
              </a:spcBef>
              <a:spcAft>
                <a:spcPts val="600"/>
              </a:spcAft>
            </a:pPr>
            <a:r>
              <a:rPr lang="en-US" sz="2000" b="1" dirty="0">
                <a:latin typeface="Arial"/>
                <a:cs typeface="Arial"/>
              </a:rPr>
              <a:t>Future Scope</a:t>
            </a:r>
            <a:endParaRPr lang="en-US" sz="2000" dirty="0">
              <a:latin typeface="Arial"/>
              <a:cs typeface="Arial"/>
            </a:endParaRPr>
          </a:p>
          <a:p>
            <a:pPr marL="305435" indent="-305435">
              <a:spcBef>
                <a:spcPct val="20000"/>
              </a:spcBef>
              <a:spcAft>
                <a:spcPts val="600"/>
              </a:spcAft>
            </a:pPr>
            <a:r>
              <a:rPr lang="en-US" sz="2000" b="1" dirty="0">
                <a:latin typeface="Arial"/>
                <a:cs typeface="Arial"/>
              </a:rPr>
              <a:t>References</a:t>
            </a:r>
            <a:endParaRPr lang="en-US" sz="2000" dirty="0">
              <a:latin typeface="Arial"/>
              <a:cs typeface="Arial"/>
            </a:endParaRPr>
          </a:p>
          <a:p>
            <a:endParaRPr lang="en-GB" sz="20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cs typeface="Arial"/>
              </a:rPr>
              <a:t>Problem Statement:</a:t>
            </a:r>
            <a:endParaRPr lang="en-US" sz="4000" dirty="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r>
              <a:rPr lang="en-US" sz="2000" dirty="0"/>
              <a:t>With the rapid growth of digital media and online communication platforms, massive volumes of textual information are generated every day. This data comes from news articles, blogs, social media posts, and other digital sources. Managing and analyzing such large-scale textual data has become increasingly challenging.</a:t>
            </a:r>
          </a:p>
          <a:p>
            <a:r>
              <a:rPr lang="en-US" sz="2000" dirty="0"/>
              <a:t>Manually reviewing and categorizing this information is not only time-consuming but also prone to human error and inconsistency. As the amount of text data continues to grow, traditional manual methods become inefficient and impractical.</a:t>
            </a:r>
          </a:p>
          <a:p>
            <a:r>
              <a:rPr lang="en-US" sz="2000" dirty="0"/>
              <a:t>Therefore, handling, organizing, and accurately classifying large volumes of text data remains a significant challenge in the modern digital environment.</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pPr marL="0" indent="0">
              <a:lnSpc>
                <a:spcPct val="100000"/>
              </a:lnSpc>
              <a:buNone/>
            </a:pPr>
            <a:r>
              <a:rPr lang="en-US" sz="2000" dirty="0">
                <a:ea typeface="Calibri" panose="020F0502020204030204" pitchFamily="34" charset="0"/>
                <a:cs typeface="Calibri" panose="020F0502020204030204" pitchFamily="34" charset="0"/>
              </a:rPr>
              <a:t>The proposed system aims to automatically classify textual data using Natural Language Processing (NLP) and Machine Learning techniques. The system analyzes text content and predicts its category based on learned patterns.</a:t>
            </a:r>
          </a:p>
          <a:p>
            <a:pPr marL="0" indent="0">
              <a:lnSpc>
                <a:spcPct val="100000"/>
              </a:lnSpc>
              <a:buNone/>
            </a:pPr>
            <a:r>
              <a:rPr lang="en-US" sz="2000" b="1" dirty="0">
                <a:ea typeface="Calibri" panose="020F0502020204030204" pitchFamily="34" charset="0"/>
                <a:cs typeface="Calibri" panose="020F0502020204030204" pitchFamily="34" charset="0"/>
              </a:rPr>
              <a:t>• Data Collection: </a:t>
            </a:r>
            <a:r>
              <a:rPr lang="en-US" sz="2000" dirty="0">
                <a:ea typeface="Calibri" panose="020F0502020204030204" pitchFamily="34" charset="0"/>
                <a:cs typeface="Calibri" panose="020F0502020204030204" pitchFamily="34" charset="0"/>
              </a:rPr>
              <a:t>Use the 20 Newsgroups dataset containing labeled text documents, Extract text data and corresponding category labels.</a:t>
            </a:r>
          </a:p>
          <a:p>
            <a:pPr marL="0" indent="0">
              <a:lnSpc>
                <a:spcPct val="100000"/>
              </a:lnSpc>
              <a:buNone/>
            </a:pPr>
            <a:r>
              <a:rPr lang="en-US" sz="2000" b="1" dirty="0">
                <a:ea typeface="Calibri" panose="020F0502020204030204" pitchFamily="34" charset="0"/>
                <a:cs typeface="Calibri" panose="020F0502020204030204" pitchFamily="34" charset="0"/>
              </a:rPr>
              <a:t>• Data Preprocessing: </a:t>
            </a:r>
            <a:r>
              <a:rPr lang="en-US" sz="2000" dirty="0">
                <a:ea typeface="Calibri" panose="020F0502020204030204" pitchFamily="34" charset="0"/>
                <a:cs typeface="Calibri" panose="020F0502020204030204" pitchFamily="34" charset="0"/>
              </a:rPr>
              <a:t>Clean and prepare textual data for analysis, Convert multi-class labels into binary classification.</a:t>
            </a:r>
          </a:p>
          <a:p>
            <a:pPr marL="0" indent="0">
              <a:lnSpc>
                <a:spcPct val="100000"/>
              </a:lnSpc>
              <a:buNone/>
            </a:pPr>
            <a:r>
              <a:rPr lang="en-US" sz="2000" b="1" dirty="0">
                <a:ea typeface="Calibri" panose="020F0502020204030204" pitchFamily="34" charset="0"/>
                <a:cs typeface="Calibri" panose="020F0502020204030204" pitchFamily="34" charset="0"/>
              </a:rPr>
              <a:t>• Feature Extraction: </a:t>
            </a:r>
            <a:r>
              <a:rPr lang="en-US" sz="2000" dirty="0">
                <a:ea typeface="Calibri" panose="020F0502020204030204" pitchFamily="34" charset="0"/>
                <a:cs typeface="Calibri" panose="020F0502020204030204" pitchFamily="34" charset="0"/>
              </a:rPr>
              <a:t>Apply TF-IDF vectorization to convert text into numerical form. Identify important words and their significance in documents.</a:t>
            </a:r>
          </a:p>
          <a:p>
            <a:pPr marL="0" indent="0">
              <a:lnSpc>
                <a:spcPct val="100000"/>
              </a:lnSpc>
              <a:buNone/>
            </a:pPr>
            <a:r>
              <a:rPr lang="en-US" sz="2000" b="1" dirty="0">
                <a:ea typeface="Calibri" panose="020F0502020204030204" pitchFamily="34" charset="0"/>
                <a:cs typeface="Calibri" panose="020F0502020204030204" pitchFamily="34" charset="0"/>
              </a:rPr>
              <a:t>• Machine Learning Algorithm: </a:t>
            </a:r>
            <a:r>
              <a:rPr lang="en-US" sz="2000" dirty="0">
                <a:ea typeface="Calibri" panose="020F0502020204030204" pitchFamily="34" charset="0"/>
                <a:cs typeface="Calibri" panose="020F0502020204030204" pitchFamily="34" charset="0"/>
              </a:rPr>
              <a:t>Implement Logistic Regression for classification. Train the model using the processed training dataset.</a:t>
            </a:r>
          </a:p>
          <a:p>
            <a:pPr marL="0" indent="0">
              <a:lnSpc>
                <a:spcPct val="100000"/>
              </a:lnSpc>
              <a:buNone/>
            </a:pPr>
            <a:r>
              <a:rPr lang="en-US" sz="2000" b="1" dirty="0">
                <a:ea typeface="Calibri" panose="020F0502020204030204" pitchFamily="34" charset="0"/>
                <a:cs typeface="Calibri" panose="020F0502020204030204" pitchFamily="34" charset="0"/>
              </a:rPr>
              <a:t>• Model Evaluation: </a:t>
            </a:r>
            <a:r>
              <a:rPr lang="en-US" sz="2000" dirty="0">
                <a:ea typeface="Calibri" panose="020F0502020204030204" pitchFamily="34" charset="0"/>
                <a:cs typeface="Calibri" panose="020F0502020204030204" pitchFamily="34" charset="0"/>
              </a:rPr>
              <a:t>Measure model performance using accuracy score. Generate a confusion matrix to analyze prediction results.</a:t>
            </a:r>
          </a:p>
          <a:p>
            <a:pPr marL="0" indent="0">
              <a:lnSpc>
                <a:spcPct val="100000"/>
              </a:lnSpc>
              <a:buNone/>
            </a:pPr>
            <a:r>
              <a:rPr lang="en-US" sz="2000" b="1" dirty="0">
                <a:ea typeface="Calibri" panose="020F0502020204030204" pitchFamily="34" charset="0"/>
                <a:cs typeface="Calibri" panose="020F0502020204030204" pitchFamily="34" charset="0"/>
              </a:rPr>
              <a:t>• Deployment: </a:t>
            </a:r>
            <a:r>
              <a:rPr lang="en-US" sz="2000" dirty="0">
                <a:ea typeface="Calibri" panose="020F0502020204030204" pitchFamily="34" charset="0"/>
                <a:cs typeface="Calibri" panose="020F0502020204030204" pitchFamily="34" charset="0"/>
              </a:rPr>
              <a:t>Develop and execute the model in Google </a:t>
            </a:r>
            <a:r>
              <a:rPr lang="en-US" sz="2000" dirty="0" err="1">
                <a:ea typeface="Calibri" panose="020F0502020204030204" pitchFamily="34" charset="0"/>
                <a:cs typeface="Calibri" panose="020F0502020204030204" pitchFamily="34" charset="0"/>
              </a:rPr>
              <a:t>Colab</a:t>
            </a:r>
            <a:r>
              <a:rPr lang="en-US" sz="2000" dirty="0">
                <a:ea typeface="Calibri" panose="020F0502020204030204" pitchFamily="34" charset="0"/>
                <a:cs typeface="Calibri" panose="020F0502020204030204" pitchFamily="34" charset="0"/>
              </a:rPr>
              <a:t>. Enable prediction for new custom text inputs.</a:t>
            </a: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dirty="0">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279309" y="1225728"/>
            <a:ext cx="10515600" cy="4251960"/>
          </a:xfrm>
        </p:spPr>
        <p:txBody>
          <a:bodyPr vert="horz" lIns="91440" tIns="45720" rIns="91440" bIns="45720" rtlCol="0">
            <a:noAutofit/>
          </a:bodyPr>
          <a:lstStyle/>
          <a:p>
            <a:pPr marL="0" indent="0">
              <a:buNone/>
            </a:pPr>
            <a:r>
              <a:rPr lang="en-IN" sz="2000" dirty="0"/>
              <a:t>The system development approach describes the overall methodology used to design and implement the text classification model.</a:t>
            </a:r>
          </a:p>
          <a:p>
            <a:pPr marL="0" indent="0">
              <a:buNone/>
            </a:pPr>
            <a:r>
              <a:rPr lang="en-IN" sz="2000" b="1" dirty="0"/>
              <a:t>• System Requirements:</a:t>
            </a:r>
          </a:p>
          <a:p>
            <a:pPr marL="0" indent="0">
              <a:buNone/>
            </a:pPr>
            <a:r>
              <a:rPr lang="en-IN" sz="2000" dirty="0"/>
              <a:t>Google </a:t>
            </a:r>
            <a:r>
              <a:rPr lang="en-IN" sz="2000" dirty="0" err="1"/>
              <a:t>Colab</a:t>
            </a:r>
            <a:r>
              <a:rPr lang="en-IN" sz="2000" dirty="0"/>
              <a:t> environment for development and execution.</a:t>
            </a:r>
          </a:p>
          <a:p>
            <a:pPr marL="0" indent="0">
              <a:buNone/>
            </a:pPr>
            <a:r>
              <a:rPr lang="en-IN" sz="2000" dirty="0"/>
              <a:t>Python programming language.</a:t>
            </a:r>
          </a:p>
          <a:p>
            <a:pPr marL="0" indent="0">
              <a:buNone/>
            </a:pPr>
            <a:r>
              <a:rPr lang="en-IN" sz="2000" b="1" dirty="0"/>
              <a:t>• Libraries Required:</a:t>
            </a:r>
          </a:p>
          <a:p>
            <a:pPr marL="0" indent="0">
              <a:buNone/>
            </a:pPr>
            <a:r>
              <a:rPr lang="en-IN" sz="2000" dirty="0"/>
              <a:t>Pandas and NumPy for data handling.</a:t>
            </a:r>
          </a:p>
          <a:p>
            <a:pPr marL="0" indent="0">
              <a:buNone/>
            </a:pPr>
            <a:r>
              <a:rPr lang="en-IN" sz="2000" dirty="0"/>
              <a:t>Scikit-learn, Matplotlib, and Seaborn for model building and visualization.</a:t>
            </a:r>
          </a:p>
          <a:p>
            <a:pPr marL="0" indent="0">
              <a:buNone/>
            </a:pPr>
            <a:r>
              <a:rPr lang="en-IN" sz="2000" b="1" dirty="0"/>
              <a:t>• Development Process:</a:t>
            </a:r>
          </a:p>
          <a:p>
            <a:pPr marL="0" indent="0">
              <a:buNone/>
            </a:pPr>
            <a:r>
              <a:rPr lang="en-IN" sz="2000" dirty="0"/>
              <a:t>Split dataset into training and testing sets (80% - 20%).</a:t>
            </a:r>
          </a:p>
          <a:p>
            <a:pPr marL="0" indent="0">
              <a:buNone/>
            </a:pPr>
            <a:r>
              <a:rPr lang="en-IN" sz="2000" dirty="0"/>
              <a:t>Convert text data into numerical features using TF-IDF.</a:t>
            </a:r>
          </a:p>
          <a:p>
            <a:pPr marL="0" indent="0">
              <a:buNone/>
            </a:pPr>
            <a:r>
              <a:rPr lang="en-IN" sz="2000" b="1" dirty="0"/>
              <a:t>• Model Implementation:</a:t>
            </a:r>
          </a:p>
          <a:p>
            <a:pPr marL="0" indent="0">
              <a:buNone/>
            </a:pPr>
            <a:r>
              <a:rPr lang="en-IN" sz="2000" dirty="0"/>
              <a:t>Train Logistic Regression model on training data.</a:t>
            </a:r>
          </a:p>
          <a:p>
            <a:pPr marL="0" indent="0">
              <a:buNone/>
            </a:pPr>
            <a:r>
              <a:rPr lang="en-IN" sz="2000" dirty="0"/>
              <a:t>Evaluate performance using testing data.</a:t>
            </a: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12271" y="1218410"/>
            <a:ext cx="10515600" cy="4251960"/>
          </a:xfrm>
        </p:spPr>
        <p:txBody>
          <a:bodyPr vert="horz" lIns="91440" tIns="45720" rIns="91440" bIns="45720" rtlCol="0">
            <a:noAutofit/>
          </a:bodyPr>
          <a:lstStyle/>
          <a:p>
            <a:pPr marL="0" indent="0">
              <a:buNone/>
            </a:pPr>
            <a:r>
              <a:rPr lang="en-US" sz="2000" b="1" dirty="0"/>
              <a:t>• Algorithm Selection:</a:t>
            </a:r>
          </a:p>
          <a:p>
            <a:pPr marL="0" indent="0">
              <a:buNone/>
            </a:pPr>
            <a:r>
              <a:rPr lang="en-US" sz="2000" dirty="0"/>
              <a:t>Logistic Regression is used for binary text classification.</a:t>
            </a:r>
          </a:p>
          <a:p>
            <a:pPr marL="0" indent="0">
              <a:buNone/>
            </a:pPr>
            <a:r>
              <a:rPr lang="en-US" sz="2000" dirty="0"/>
              <a:t>It predicts the probability of a text belonging to a particular category.</a:t>
            </a:r>
          </a:p>
          <a:p>
            <a:pPr marL="0" indent="0">
              <a:buNone/>
            </a:pPr>
            <a:r>
              <a:rPr lang="en-US" sz="2000" b="1" dirty="0"/>
              <a:t>• Data Input:</a:t>
            </a:r>
          </a:p>
          <a:p>
            <a:pPr marL="0" indent="0">
              <a:buNone/>
            </a:pPr>
            <a:r>
              <a:rPr lang="en-US" sz="2000" dirty="0"/>
              <a:t>Input consists of textual documents from the dataset.</a:t>
            </a:r>
          </a:p>
          <a:p>
            <a:pPr marL="0" indent="0">
              <a:buNone/>
            </a:pPr>
            <a:r>
              <a:rPr lang="en-US" sz="2000" dirty="0"/>
              <a:t>TF-IDF features are used as numerical input to the model.</a:t>
            </a:r>
          </a:p>
          <a:p>
            <a:pPr marL="0" indent="0">
              <a:buNone/>
            </a:pPr>
            <a:r>
              <a:rPr lang="en-US" sz="2000" b="1" dirty="0"/>
              <a:t>• Training Process:</a:t>
            </a:r>
          </a:p>
          <a:p>
            <a:pPr marL="0" indent="0">
              <a:buNone/>
            </a:pPr>
            <a:r>
              <a:rPr lang="en-US" sz="2000" dirty="0"/>
              <a:t>The model is trained using 80% of the dataset.</a:t>
            </a:r>
          </a:p>
          <a:p>
            <a:pPr marL="0" indent="0">
              <a:buNone/>
            </a:pPr>
            <a:r>
              <a:rPr lang="en-US" sz="2000" dirty="0"/>
              <a:t>It learns patterns and relationships between words and labels.</a:t>
            </a:r>
          </a:p>
          <a:p>
            <a:pPr marL="0" indent="0">
              <a:buNone/>
            </a:pPr>
            <a:r>
              <a:rPr lang="en-US" sz="2000" b="1" dirty="0"/>
              <a:t>• Prediction Process:</a:t>
            </a:r>
          </a:p>
          <a:p>
            <a:pPr marL="0" indent="0">
              <a:buNone/>
            </a:pPr>
            <a:r>
              <a:rPr lang="en-US" sz="2000" dirty="0"/>
              <a:t>The trained model predicts labels for unseen test data.</a:t>
            </a:r>
          </a:p>
          <a:p>
            <a:pPr marL="0" indent="0">
              <a:buNone/>
            </a:pPr>
            <a:r>
              <a:rPr lang="en-US" sz="2000" dirty="0"/>
              <a:t>It can also classify new custom text inputs.</a:t>
            </a:r>
          </a:p>
          <a:p>
            <a:pPr marL="0" indent="0">
              <a:buNone/>
            </a:pPr>
            <a:r>
              <a:rPr lang="en-US" sz="2000" b="1" dirty="0"/>
              <a:t>• Deployment:</a:t>
            </a:r>
          </a:p>
          <a:p>
            <a:pPr marL="0" indent="0">
              <a:buNone/>
            </a:pPr>
            <a:r>
              <a:rPr lang="en-US" sz="2000" dirty="0"/>
              <a:t>The model is implemented and executed in Google </a:t>
            </a:r>
            <a:r>
              <a:rPr lang="en-US" sz="2000" dirty="0" err="1"/>
              <a:t>Colab</a:t>
            </a:r>
            <a:r>
              <a:rPr lang="en-US" sz="2000" dirty="0"/>
              <a:t>.</a:t>
            </a:r>
          </a:p>
          <a:p>
            <a:pPr marL="0" indent="0">
              <a:buNone/>
            </a:pPr>
            <a:r>
              <a:rPr lang="en-US" sz="2000" dirty="0"/>
              <a:t>Web deployment is optional and not mandatory.</a:t>
            </a: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267380" y="1192218"/>
            <a:ext cx="10515600" cy="4251960"/>
          </a:xfrm>
        </p:spPr>
        <p:txBody>
          <a:bodyPr vert="horz" lIns="91440" tIns="45720" rIns="91440" bIns="45720" rtlCol="0">
            <a:normAutofit/>
          </a:bodyPr>
          <a:lstStyle/>
          <a:p>
            <a:pPr marL="0" indent="0">
              <a:buNone/>
            </a:pPr>
            <a:r>
              <a:rPr lang="en-US" sz="2000" dirty="0"/>
              <a:t>The developed model was evaluated using accuracy score and confusion matrix. The Logistic Regression model achieved an accuracy of </a:t>
            </a:r>
            <a:r>
              <a:rPr lang="en-US" sz="2000" b="1" dirty="0"/>
              <a:t>92.38%</a:t>
            </a:r>
            <a:r>
              <a:rPr lang="en-US" sz="2000" dirty="0"/>
              <a:t>, demonstrating strong performance in text classification.</a:t>
            </a:r>
          </a:p>
        </p:txBody>
      </p:sp>
      <p:pic>
        <p:nvPicPr>
          <p:cNvPr id="5" name="Picture 4">
            <a:extLst>
              <a:ext uri="{FF2B5EF4-FFF2-40B4-BE49-F238E27FC236}">
                <a16:creationId xmlns:a16="http://schemas.microsoft.com/office/drawing/2014/main" id="{544A7A2E-3C97-6AB1-1B81-63B1AD0A28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50" y="2376425"/>
            <a:ext cx="3138351" cy="2802099"/>
          </a:xfrm>
          <a:prstGeom prst="rect">
            <a:avLst/>
          </a:prstGeom>
        </p:spPr>
      </p:pic>
      <p:pic>
        <p:nvPicPr>
          <p:cNvPr id="12" name="Picture 11">
            <a:extLst>
              <a:ext uri="{FF2B5EF4-FFF2-40B4-BE49-F238E27FC236}">
                <a16:creationId xmlns:a16="http://schemas.microsoft.com/office/drawing/2014/main" id="{7B6327E2-EEE6-49C9-BF56-EB7485784E4B}"/>
              </a:ext>
            </a:extLst>
          </p:cNvPr>
          <p:cNvPicPr>
            <a:picLocks noChangeAspect="1"/>
          </p:cNvPicPr>
          <p:nvPr/>
        </p:nvPicPr>
        <p:blipFill>
          <a:blip r:embed="rId3"/>
          <a:stretch>
            <a:fillRect/>
          </a:stretch>
        </p:blipFill>
        <p:spPr>
          <a:xfrm>
            <a:off x="3433452" y="2376425"/>
            <a:ext cx="3374479" cy="2948643"/>
          </a:xfrm>
          <a:prstGeom prst="rect">
            <a:avLst/>
          </a:prstGeom>
        </p:spPr>
      </p:pic>
      <p:pic>
        <p:nvPicPr>
          <p:cNvPr id="14" name="Picture 13">
            <a:extLst>
              <a:ext uri="{FF2B5EF4-FFF2-40B4-BE49-F238E27FC236}">
                <a16:creationId xmlns:a16="http://schemas.microsoft.com/office/drawing/2014/main" id="{2D78DBBA-F145-261A-376E-CC646C38D6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77595" y="2376425"/>
            <a:ext cx="5114255" cy="2998232"/>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5ACC76-9FB9-1A35-69E8-19DDF06C61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FF47B5-CD21-A5B3-2CAC-0422C3764944}"/>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cs typeface="Arial"/>
              </a:rPr>
              <a:t>Result:</a:t>
            </a:r>
            <a:endParaRPr lang="en-US" sz="4000" dirty="0"/>
          </a:p>
        </p:txBody>
      </p:sp>
      <p:sp>
        <p:nvSpPr>
          <p:cNvPr id="3" name="Content Placeholder 2">
            <a:extLst>
              <a:ext uri="{FF2B5EF4-FFF2-40B4-BE49-F238E27FC236}">
                <a16:creationId xmlns:a16="http://schemas.microsoft.com/office/drawing/2014/main" id="{A564B3DF-626A-D957-EDA6-A16E8F9407D9}"/>
              </a:ext>
            </a:extLst>
          </p:cNvPr>
          <p:cNvSpPr>
            <a:spLocks noGrp="1"/>
          </p:cNvSpPr>
          <p:nvPr>
            <p:ph idx="1"/>
          </p:nvPr>
        </p:nvSpPr>
        <p:spPr>
          <a:xfrm>
            <a:off x="338137" y="1584103"/>
            <a:ext cx="10515600" cy="4251960"/>
          </a:xfrm>
        </p:spPr>
        <p:txBody>
          <a:bodyPr vert="horz" lIns="91440" tIns="45720" rIns="91440" bIns="45720" rtlCol="0">
            <a:normAutofit/>
          </a:bodyPr>
          <a:lstStyle/>
          <a:p>
            <a:pPr marL="0" indent="0">
              <a:buNone/>
            </a:pPr>
            <a:endParaRPr lang="en-US" sz="1600" dirty="0"/>
          </a:p>
        </p:txBody>
      </p:sp>
      <p:pic>
        <p:nvPicPr>
          <p:cNvPr id="20" name="Picture 19">
            <a:extLst>
              <a:ext uri="{FF2B5EF4-FFF2-40B4-BE49-F238E27FC236}">
                <a16:creationId xmlns:a16="http://schemas.microsoft.com/office/drawing/2014/main" id="{A9561186-749B-4F10-9EE1-0BCE661FD4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124" y="1401102"/>
            <a:ext cx="5816562" cy="4525892"/>
          </a:xfrm>
          <a:prstGeom prst="rect">
            <a:avLst/>
          </a:prstGeom>
        </p:spPr>
      </p:pic>
      <p:pic>
        <p:nvPicPr>
          <p:cNvPr id="22" name="Picture 21">
            <a:extLst>
              <a:ext uri="{FF2B5EF4-FFF2-40B4-BE49-F238E27FC236}">
                <a16:creationId xmlns:a16="http://schemas.microsoft.com/office/drawing/2014/main" id="{475DAA0D-AB9C-8827-4909-00D5B68CB079}"/>
              </a:ext>
            </a:extLst>
          </p:cNvPr>
          <p:cNvPicPr>
            <a:picLocks noChangeAspect="1"/>
          </p:cNvPicPr>
          <p:nvPr/>
        </p:nvPicPr>
        <p:blipFill>
          <a:blip r:embed="rId3"/>
          <a:stretch>
            <a:fillRect/>
          </a:stretch>
        </p:blipFill>
        <p:spPr>
          <a:xfrm>
            <a:off x="6019051" y="2128617"/>
            <a:ext cx="5958825" cy="2600765"/>
          </a:xfrm>
          <a:prstGeom prst="rect">
            <a:avLst/>
          </a:prstGeom>
        </p:spPr>
      </p:pic>
    </p:spTree>
    <p:extLst>
      <p:ext uri="{BB962C8B-B14F-4D97-AF65-F5344CB8AC3E}">
        <p14:creationId xmlns:p14="http://schemas.microsoft.com/office/powerpoint/2010/main" val="3386472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r>
              <a:rPr lang="en-US" sz="2000" dirty="0"/>
              <a:t>The project successfully developed a text classification model capable of automatically analyzing and categorizing textual data. The Logistic Regression model achieved an accuracy of </a:t>
            </a:r>
            <a:r>
              <a:rPr lang="en-US" sz="2000" b="1" dirty="0"/>
              <a:t>92.38%</a:t>
            </a:r>
            <a:r>
              <a:rPr lang="en-US" sz="2000" dirty="0"/>
              <a:t>, demonstrating strong performance.</a:t>
            </a:r>
          </a:p>
          <a:p>
            <a:r>
              <a:rPr lang="en-US" sz="2000" dirty="0"/>
              <a:t>The implementation shows that automated text classification can significantly reduce manual effort and improve efficiency in handling large volumes of textual information.</a:t>
            </a:r>
          </a:p>
          <a:p>
            <a:r>
              <a:rPr lang="en-US" sz="2000" dirty="0"/>
              <a:t>The model effectively learned patterns from textual data and classified unseen text with high accuracy.</a:t>
            </a:r>
          </a:p>
          <a:p>
            <a:r>
              <a:rPr lang="en-US" sz="2000" dirty="0"/>
              <a:t>The approach demonstrates the practical application of Machine Learning in real-world text analysis tasks.</a:t>
            </a:r>
          </a:p>
          <a:p>
            <a:endParaRPr lang="en-US" sz="2000" dirty="0"/>
          </a:p>
        </p:txBody>
      </p:sp>
    </p:spTree>
    <p:extLst>
      <p:ext uri="{BB962C8B-B14F-4D97-AF65-F5344CB8AC3E}">
        <p14:creationId xmlns:p14="http://schemas.microsoft.com/office/powerpoint/2010/main" val="2245309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366043" y="1854162"/>
            <a:ext cx="10515600" cy="4251960"/>
          </a:xfrm>
        </p:spPr>
        <p:txBody>
          <a:bodyPr vert="horz" lIns="91440" tIns="45720" rIns="91440" bIns="45720" rtlCol="0">
            <a:normAutofit/>
          </a:bodyPr>
          <a:lstStyle/>
          <a:p>
            <a:r>
              <a:rPr lang="en-US" sz="2400" dirty="0"/>
              <a:t>Improve accuracy using advanced deep learning models such as LSTM or BERT.</a:t>
            </a:r>
          </a:p>
          <a:p>
            <a:r>
              <a:rPr lang="en-US" sz="2400" dirty="0"/>
              <a:t>Expand the system to handle multi-language text classification.</a:t>
            </a:r>
          </a:p>
          <a:p>
            <a:r>
              <a:rPr lang="en-US" sz="2400" dirty="0"/>
              <a:t>Integrate the model into a web or mobile application for real-time usage.</a:t>
            </a:r>
          </a:p>
          <a:p>
            <a:r>
              <a:rPr lang="en-US" sz="2400" dirty="0"/>
              <a:t>Use larger and more diverse datasets to enhance model performance.</a:t>
            </a:r>
          </a:p>
          <a:p>
            <a:r>
              <a:rPr lang="en-US" sz="2400" dirty="0"/>
              <a:t>Implement real-time monitoring and continuous model improvement using new incoming data.</a:t>
            </a:r>
          </a:p>
        </p:txBody>
      </p:sp>
    </p:spTree>
    <p:extLst>
      <p:ext uri="{BB962C8B-B14F-4D97-AF65-F5344CB8AC3E}">
        <p14:creationId xmlns:p14="http://schemas.microsoft.com/office/powerpoint/2010/main" val="3744199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r>
              <a:rPr lang="en-US" sz="2000" dirty="0"/>
              <a:t>Scikit-learn Official Documentation – </a:t>
            </a:r>
            <a:r>
              <a:rPr lang="en-US" sz="2000" dirty="0">
                <a:hlinkClick r:id="rId2"/>
              </a:rPr>
              <a:t>https://scikit-learn.org</a:t>
            </a:r>
            <a:endParaRPr lang="en-US" sz="2000" dirty="0"/>
          </a:p>
          <a:p>
            <a:r>
              <a:rPr lang="en-US" sz="2000" dirty="0"/>
              <a:t>Python Official Documentation – </a:t>
            </a:r>
            <a:r>
              <a:rPr lang="en-US" sz="2000" dirty="0">
                <a:hlinkClick r:id="rId3"/>
              </a:rPr>
              <a:t>https://www.python.org</a:t>
            </a:r>
            <a:endParaRPr lang="en-US" sz="2000" dirty="0"/>
          </a:p>
          <a:p>
            <a:r>
              <a:rPr lang="en-US" sz="2000" dirty="0"/>
              <a:t>20 Newsgroups Dataset – Scikit-learn Built-in Dataset</a:t>
            </a:r>
          </a:p>
          <a:p>
            <a:r>
              <a:rPr lang="en-US" sz="2000" dirty="0"/>
              <a:t>Research articles on Text Classification and Machine Learning</a:t>
            </a:r>
          </a:p>
          <a:p>
            <a:pPr marL="0" indent="0">
              <a:buNone/>
            </a:pPr>
            <a:r>
              <a:rPr lang="en-IN" sz="2200" dirty="0">
                <a:latin typeface="Franklin Gothic Book"/>
              </a:rPr>
              <a:t>GitHub Link: </a:t>
            </a:r>
            <a:r>
              <a:rPr lang="en-IN" sz="2200" dirty="0">
                <a:latin typeface="Franklin Gothic Book"/>
                <a:hlinkClick r:id="rId4"/>
              </a:rPr>
              <a:t>https://github.com/a-subash/AICTE-Fake-News-Detection-Project</a:t>
            </a: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TotalTime>
  <Words>796</Words>
  <Application>Microsoft Office PowerPoint</Application>
  <PresentationFormat>Widescreen</PresentationFormat>
  <Paragraphs>82</Paragraphs>
  <Slides>12</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 a</cp:lastModifiedBy>
  <cp:revision>102</cp:revision>
  <dcterms:created xsi:type="dcterms:W3CDTF">2024-05-21T11:55:07Z</dcterms:created>
  <dcterms:modified xsi:type="dcterms:W3CDTF">2026-02-21T13:27:58Z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